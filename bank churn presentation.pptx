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922" y="6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B"/>
                </a:solidFill>
                <a:latin typeface="Arial"/>
              </a:rPr>
              <a:t>Model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A3A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D4-44DD-9FF8-E541A4FBF3B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D4-44DD-9FF8-E541A4FBF3B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0D4-44DD-9FF8-E541A4FBF3B2}"/>
              </c:ext>
            </c:extLst>
          </c:dPt>
          <c:dPt>
            <c:idx val="3"/>
            <c:invertIfNegative val="0"/>
            <c:bubble3D val="0"/>
            <c:spPr>
              <a:solidFill>
                <a:srgbClr val="1D6B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D4-44DD-9FF8-E541A4FBF3B2}"/>
              </c:ext>
            </c:extLst>
          </c:dPt>
          <c:dPt>
            <c:idx val="4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D4-44DD-9FF8-E541A4FBF3B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KNN</c:v>
                </c:pt>
                <c:pt idx="1">
                  <c:v>SVM</c:v>
                </c:pt>
                <c:pt idx="2">
                  <c:v>Logistic
Regression</c:v>
                </c:pt>
                <c:pt idx="3">
                  <c:v>Random
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83.3</c:v>
                </c:pt>
                <c:pt idx="1">
                  <c:v>84.45</c:v>
                </c:pt>
                <c:pt idx="2">
                  <c:v>85.2</c:v>
                </c:pt>
                <c:pt idx="3">
                  <c:v>86.15</c:v>
                </c:pt>
                <c:pt idx="4">
                  <c:v>86.55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D4-44DD-9FF8-E541A4FBF3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4B"/>
                </a:solidFill>
                <a:latin typeface="Arial"/>
              </a:rPr>
              <a:t>Best Accuracy by Resampling Strategy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26-46F2-BBC6-1B07C2500AC3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26-46F2-BBC6-1B07C2500AC3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26-46F2-BBC6-1B07C2500AC3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26-46F2-BBC6-1B07C2500A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TomekLinks
(RF)</c:v>
                </c:pt>
                <c:pt idx="1">
                  <c:v>Standard
(RF)</c:v>
                </c:pt>
                <c:pt idx="2">
                  <c:v>SMOTE
(Voting)</c:v>
                </c:pt>
                <c:pt idx="3">
                  <c:v>SMOTEENN
(XGBoost)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0.86450000000000005</c:v>
                </c:pt>
                <c:pt idx="1">
                  <c:v>0.86299999999999999</c:v>
                </c:pt>
                <c:pt idx="2">
                  <c:v>0.85850000000000004</c:v>
                </c:pt>
                <c:pt idx="3">
                  <c:v>0.80100000000000005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26-46F2-BBC6-1B07C2500A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 (Conservative)</c:v>
                </c:pt>
              </c:strCache>
            </c:strRef>
          </c:tx>
          <c:spPr>
            <a:solidFill>
              <a:srgbClr val="1A3A7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Recall</c:v>
                </c:pt>
                <c:pt idx="2">
                  <c:v>Precision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0.44</c:v>
                </c:pt>
                <c:pt idx="2">
                  <c:v>0.82</c:v>
                </c:pt>
                <c:pt idx="3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53-4F89-A6FF-9FA835BDFD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Neural Network (Aggressive)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Recall</c:v>
                </c:pt>
                <c:pt idx="2">
                  <c:v>Precision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0.81</c:v>
                </c:pt>
                <c:pt idx="1">
                  <c:v>0.68</c:v>
                </c:pt>
                <c:pt idx="2">
                  <c:v>0.53</c:v>
                </c:pt>
                <c:pt idx="3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53-4F89-A6FF-9FA835BDFD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54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A3A7A">
              <a:alpha val="6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743200" cy="274320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371600" cy="164592"/>
          </a:xfrm>
          <a:prstGeom prst="roundRect">
            <a:avLst>
              <a:gd name="adj" fmla="val 27778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4FC3F7"/>
                </a:solidFill>
              </a:rPr>
              <a:t>MACHINE LEARNING · PREDICTIVE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8DEFF"/>
                </a:solidFill>
              </a:rPr>
              <a:t>Comprehensive Technical Report — Data Profiling, Imbalance Handling &amp; Model Evaluation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35"/>
          </a:solidFill>
          <a:ln w="12700">
            <a:solidFill>
              <a:srgbClr val="0A15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Bank Churn Modelling Dataset  ·  Statistical Analysis + Deep Learning  ·  Final Validated Model: Swish-ANN + TomekLinks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Overview &amp; Feature Significance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</a:rPr>
              <a:t>Dataset: Bank Churn Modelling — predicts customer attrition from behavioral and demographic features.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9813"/>
              </p:ext>
            </p:extLst>
          </p:nvPr>
        </p:nvGraphicFramePr>
        <p:xfrm>
          <a:off x="390832" y="1463040"/>
          <a:ext cx="8387408" cy="3621024"/>
        </p:xfrm>
        <a:graphic>
          <a:graphicData uri="http://schemas.openxmlformats.org/drawingml/2006/table">
            <a:tbl>
              <a:tblPr/>
              <a:tblGrid>
                <a:gridCol w="235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 on Churn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Significance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</a:rPr>
                        <a:t>Critical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IsActiveMember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NumOfProducts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Chi-Square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Geography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Chi-Square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Gender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1200" dirty="0">
                          <a:solidFill>
                            <a:srgbClr val="1E293B"/>
                          </a:solidFill>
                          <a:latin typeface="+mn-lt"/>
                          <a:ea typeface="+mn-ea"/>
                          <a:cs typeface="+mn-cs"/>
                        </a:rPr>
                        <a:t>Balance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1E293B"/>
                          </a:solidFill>
                          <a:latin typeface="+mn-lt"/>
                          <a:ea typeface="+mn-ea"/>
                          <a:cs typeface="+mn-cs"/>
                        </a:rPr>
                        <a:t>Tenure 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rgbClr val="475569"/>
                          </a:solidFill>
                          <a:latin typeface="+mn-lt"/>
                          <a:ea typeface="+mn-ea"/>
                          <a:cs typeface="+mn-cs"/>
                        </a:rPr>
                        <a:t>Heatmap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Slight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8952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00" b="1" kern="1200" dirty="0">
                          <a:solidFill>
                            <a:srgbClr val="1E293B"/>
                          </a:solidFill>
                          <a:latin typeface="+mn-lt"/>
                          <a:ea typeface="+mn-ea"/>
                          <a:cs typeface="+mn-cs"/>
                        </a:rPr>
                        <a:t>CreditScore</a:t>
                      </a: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</a:rPr>
                        <a:t>Slight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★★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EstimatedSalary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HasCrCard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Z-Test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4722876"/>
            <a:ext cx="841248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40AF"/>
                </a:solidFill>
              </a:rPr>
              <a:t>Key Insight: Age &amp; product engagement drive churn. Salary and credit card ownership show no statistical significance.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Baseline Model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3748"/>
                </a:solidFill>
              </a:rPr>
              <a:t>Before addressing class imbalance, standard models were evaluated to establish a performance baseline.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4173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417320"/>
            <a:ext cx="2926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453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High Accuracy / Low Recall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70992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XGBoost leads at 86.55% accuracy but Recall on churners is only 0.47 — barely above chance.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2514600"/>
            <a:ext cx="292608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5511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53% Detection Failure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80720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More than half of actual churning customers are missed due to class imbalance in the target variable.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43600" y="3611880"/>
            <a:ext cx="292608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3648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Verdict: Resampling Needed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9044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Standard models cannot reliably identify minority class (Exited=1) without external intervention.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Tackling Imbalance: Weighting &amp; Ensemble Methods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Logistic Regression: Standard vs. Weighted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5120640" cy="1417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 (Class 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Standard 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Weighted (balanced)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Recall (Sensitivity)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0.41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0.76 ↑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0.75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0.45 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85.00%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77.00% 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834640"/>
            <a:ext cx="512064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85292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F46"/>
                </a:solidFill>
              </a:rPr>
              <a:t>Balanced weighting lifted Recall by +85% (0.41 → 0.76) at the cost of overall accuracy — proves minority sensitivity can be forced.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60720" y="1024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</a:rPr>
              <a:t>Ensemble Learning Results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37160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Voting Classifier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(Soft)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Accuracy: 84.7%   Recall: 0.46   F1: 0.55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2560320"/>
            <a:ext cx="3200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52160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Bagging Classifier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</a:rPr>
              <a:t>(100 Estimators)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Accuracy: 85.35%   Recall: 0.46   F1: ~0.55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749040"/>
            <a:ext cx="320040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76732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1B1B"/>
                </a:solidFill>
              </a:rPr>
              <a:t>Verdict: Ensembles improved variance but failed to break the 46% Recall ceiling → external resampling required.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453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</a:rPr>
              <a:t>→  Next Step: External Resampling  (SMOTE · TomekLinks · SMOTEENN)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Resampling Strategy Performance Matrix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926080" cy="9601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143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🥇 TomekLinks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0" y="139903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Cleans majority-class boundaries → highest metric stability, best fit for Random Forest.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43600" y="2176272"/>
            <a:ext cx="2926080" cy="9601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221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⚠️ SMOTE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47802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Synthetic oversampling penalizes accuracy on tabular data. Best Recall trade-off but noisier boundary.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3255264"/>
            <a:ext cx="2926080" cy="9601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300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✗ SMOTEENN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35040" y="355701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Aggressive cleaning + synthesis degrades accuracy to 0.80 — over-correction for this dataset.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4315968"/>
            <a:ext cx="8412480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</a:rPr>
              <a:t>Winner: TomekLinks + Random Forest  |  Accuracy: 86.45%  —  Proceeds to deep learning stage for Recall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Deep Learning: ANN Strategy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Three ANN configurations tested — each optimized for a different business objective: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</a:rPr>
              <a:t>🛡️ Baseline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</a:rPr>
              <a:t>(Standard)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3A8A"/>
                </a:solidFill>
              </a:rPr>
              <a:t>Precision Specialist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8A"/>
                </a:solidFill>
              </a:rPr>
              <a:t>86.10%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8A"/>
                </a:solidFill>
              </a:rPr>
              <a:t>0.41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8A"/>
                </a:solidFill>
              </a:rPr>
              <a:t>0.82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F1-Score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8A"/>
                </a:solidFill>
              </a:rPr>
              <a:t>0.54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</a:rPr>
              <a:t>Conservative: minimizes false alarms but misses 59% of churners.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743200" cy="34747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</a:rPr>
              <a:t>⚖️ Threshold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</a:rPr>
              <a:t>Adjusted (0.3)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F46"/>
                </a:solidFill>
              </a:rPr>
              <a:t>Balanced Ground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Accuracy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F46"/>
                </a:solidFill>
              </a:rPr>
              <a:t>83.05%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Recall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F46"/>
                </a:solidFill>
              </a:rPr>
              <a:t>0.63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F46"/>
                </a:solidFill>
              </a:rPr>
              <a:t>0.58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F1-Score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F46"/>
                </a:solidFill>
              </a:rPr>
              <a:t>0.60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4114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</a:rPr>
              <a:t>Best F1-Score (0.60). Balanced trade-off — recommended for most deployments.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1371600"/>
            <a:ext cx="2743200" cy="3474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144475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⚔️ SMOTE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</a:rPr>
              <a:t>Applied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2400E"/>
                </a:solidFill>
              </a:rPr>
              <a:t>Recall Hunter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Accuracy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2400E"/>
                </a:solidFill>
              </a:rPr>
              <a:t>81.20%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Recall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6700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2400E"/>
                </a:solidFill>
              </a:rPr>
              <a:t>0.68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Precision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3072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2400E"/>
                </a:solidFill>
              </a:rPr>
              <a:t>0.53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F1-Score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2400E"/>
                </a:solidFill>
              </a:rPr>
              <a:t>0.59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41148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</a:rPr>
              <a:t>Aggressive: captures 68% of churners — 47% false-positive 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Precision–Recall Trade-off: Final Verdict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Two deployment candidates evaluated against business strategy — conservative quality vs. aggressive quantity.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7160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417320"/>
            <a:ext cx="292608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472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</a:rPr>
              <a:t>🛡️ Random Forest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7465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3A8A"/>
                </a:solidFill>
              </a:rPr>
              <a:t>Deploy when retention cost is HIGH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350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Accuracy: 87%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Precision: 82% → quality targeting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Recall: 44% (conservative)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Minimizes false alarms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3246120"/>
            <a:ext cx="2926080" cy="164592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33009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</a:rPr>
              <a:t>⚔️ Neural Network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3575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65F46"/>
                </a:solidFill>
              </a:rPr>
              <a:t>Deploy when customer loss cost is HIGH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0" y="3840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Recall: 68% → captures 24% more churners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F1-Score: 0.59 (comparable)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Higher false-positive rate (47%)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</a:rPr>
              <a:t>Aggressive, broad net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657600" cy="3657600"/>
          </a:xfrm>
          <a:prstGeom prst="ellipse">
            <a:avLst/>
          </a:prstGeom>
          <a:solidFill>
            <a:srgbClr val="1A3A7A">
              <a:alpha val="50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Swish Breakthrough &amp; Final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606040"/>
          </a:xfrm>
          <a:prstGeom prst="rect">
            <a:avLst/>
          </a:prstGeom>
          <a:solidFill>
            <a:srgbClr val="132059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Advanced ANN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EFF"/>
                </a:solidFill>
              </a:rPr>
              <a:t>Activation: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Swish (self-gated, superior non-linear extraction)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EFF"/>
                </a:solidFill>
              </a:rPr>
              <a:t>Optimizer: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783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Adam  ·  Learning Rate: 0.04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EFF"/>
                </a:solidFill>
              </a:rPr>
              <a:t>Topology: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16 → 16 → 8 hidden layers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EFF"/>
                </a:solidFill>
              </a:rPr>
              <a:t>Threshold: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0.3  (Recall-optimized)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EFF"/>
                </a:solidFill>
              </a:rPr>
              <a:t>Resampling: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TomekLinks (boundary cleaning)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Peak Performance Profile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1828800" cy="914400"/>
          </a:xfrm>
          <a:prstGeom prst="rect">
            <a:avLst/>
          </a:prstGeom>
          <a:solidFill>
            <a:srgbClr val="132059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</a:rPr>
              <a:t>84.40%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1828800" cy="914400"/>
          </a:xfrm>
          <a:prstGeom prst="rect">
            <a:avLst/>
          </a:prstGeom>
          <a:solidFill>
            <a:srgbClr val="132059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</a:rPr>
              <a:t>60%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</a:rPr>
              <a:t>Recall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1828800" cy="914400"/>
          </a:xfrm>
          <a:prstGeom prst="rect">
            <a:avLst/>
          </a:prstGeom>
          <a:solidFill>
            <a:srgbClr val="132059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62%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548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2377440"/>
            <a:ext cx="1828800" cy="914400"/>
          </a:xfrm>
          <a:prstGeom prst="rect">
            <a:avLst/>
          </a:prstGeom>
          <a:solidFill>
            <a:srgbClr val="132059"/>
          </a:solidFill>
          <a:ln w="12700">
            <a:solidFill>
              <a:srgbClr val="FF6B9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66560" y="2423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9D"/>
                </a:solidFill>
              </a:rPr>
              <a:t>0.61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E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D166"/>
                </a:solidFill>
              </a:rPr>
              <a:t>★  Project Maximum F1-Score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132059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5-Fold Cross-Validation Results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968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Mean Accuracy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84.95%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Variance: ±0.0038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3968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Mean F1-Score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62.64%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9184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All folds: 0.58 – 0.65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35040" y="3968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F"/>
                </a:solidFill>
              </a:rPr>
              <a:t>Consistency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42245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High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35040" y="4572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Stable across all folds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A3A7A">
              <a:alpha val="45000"/>
            </a:srgbClr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Final Deployment Recommendation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Selection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Architecture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Swish-ANN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EFF"/>
                          </a:solidFill>
                        </a:rPr>
                        <a:t>Superior non-linear extraction, best F1-Score (0.61)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Resampling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D166"/>
                          </a:solidFill>
                        </a:rPr>
                        <a:t>TomekLinks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EFF"/>
                          </a:solidFill>
                        </a:rPr>
                        <a:t>Boundary cleaning, highest metric stability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0.3 (Balanced)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EFF"/>
                          </a:solidFill>
                        </a:rPr>
                        <a:t>Optimized Recall / Precision balance for production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Validation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FC3F7"/>
                          </a:solidFill>
                        </a:rPr>
                        <a:t>5-Fold CV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EFF"/>
                          </a:solidFill>
                        </a:rPr>
                        <a:t>Mean Accuracy 84.95%, Mean F1 62.64%, consistent folds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32059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3913632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 Swish-ANN + TomekLinks model </a:t>
            </a:r>
            <a:r>
              <a:rPr lang="en-US" sz="1200" b="1" dirty="0">
                <a:solidFill>
                  <a:srgbClr val="FFD166"/>
                </a:solidFill>
              </a:rPr>
              <a:t>is the optimal deployment candidate</a:t>
            </a:r>
            <a:r>
              <a:rPr lang="en-US" sz="1200" dirty="0">
                <a:solidFill>
                  <a:srgbClr val="FFFFFF"/>
                </a:solidFill>
              </a:rPr>
              <a:t>. It delivers mathematical stability, high Recall parameterization, and controlled Precision variance — </a:t>
            </a:r>
            <a:r>
              <a:rPr lang="en-US" sz="1200" b="1" dirty="0">
                <a:solidFill>
                  <a:srgbClr val="4FC3F7"/>
                </a:solidFill>
              </a:rPr>
              <a:t>ready for production integration.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804</Words>
  <Application>Microsoft Office PowerPoint</Application>
  <PresentationFormat>On-screen Show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Churn Prediction Project</dc:title>
  <dc:subject>PptxGenJS Presentation</dc:subject>
  <dc:creator>PptxGenJS</dc:creator>
  <cp:lastModifiedBy>Mohamed Ramadan</cp:lastModifiedBy>
  <cp:revision>2</cp:revision>
  <dcterms:created xsi:type="dcterms:W3CDTF">2026-05-02T02:26:00Z</dcterms:created>
  <dcterms:modified xsi:type="dcterms:W3CDTF">2026-05-02T11:22:53Z</dcterms:modified>
</cp:coreProperties>
</file>